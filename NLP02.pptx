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7315200" cy="960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5421" autoAdjust="0"/>
  </p:normalViewPr>
  <p:slideViewPr>
    <p:cSldViewPr snapToGrid="0" snapToObjects="1">
      <p:cViewPr varScale="1">
        <p:scale>
          <a:sx n="81" d="100"/>
          <a:sy n="81" d="100"/>
        </p:scale>
        <p:origin x="10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651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r>
              <a:rPr lang="en-US" dirty="0" err="1"/>
              <a:t>LBFGS:Limited-memory</a:t>
            </a:r>
            <a:r>
              <a:rPr lang="en-US" dirty="0"/>
              <a:t> </a:t>
            </a:r>
            <a:r>
              <a:rPr lang="en-US" dirty="0" err="1"/>
              <a:t>Broyden</a:t>
            </a:r>
            <a:r>
              <a:rPr lang="en-US" dirty="0"/>
              <a:t>–Fletcher–Goldfarb–Shanno optimization </a:t>
            </a:r>
            <a:r>
              <a:rPr lang="en-US" dirty="0" err="1"/>
              <a:t>algorithem</a:t>
            </a:r>
            <a:r>
              <a:rPr lang="en-US" dirty="0"/>
              <a:t> </a:t>
            </a:r>
            <a:r>
              <a:rPr lang="en-AU" dirty="0"/>
              <a:t>{</a:t>
            </a:r>
            <a:r>
              <a:rPr lang="ar-JO" dirty="0"/>
              <a:t>لنموذج في البداية لا يعرف كيف يصنف الأخبار بدقة، فيقوم بالتخمين وتحدث أخطاء (</a:t>
            </a:r>
            <a:r>
              <a:rPr lang="en-US" dirty="0"/>
              <a:t>Loss/Error). </a:t>
            </a:r>
            <a:r>
              <a:rPr lang="ar-JO" dirty="0"/>
              <a:t>وظيفة خوارزمية التحسين هنا هي </a:t>
            </a:r>
            <a:r>
              <a:rPr lang="ar-JO" b="1" dirty="0"/>
              <a:t>تقليل نسبة هذا الخطأ تدريجياً</a:t>
            </a:r>
            <a:r>
              <a:rPr lang="ar-JO" dirty="0"/>
              <a:t> عبر تعديل "الأوزان" (</a:t>
            </a:r>
            <a:r>
              <a:rPr lang="en-US" dirty="0"/>
              <a:t>Weights) </a:t>
            </a:r>
            <a:r>
              <a:rPr lang="ar-JO" dirty="0"/>
              <a:t>الخاصة بالكلمات، حتى نصل إلى أعلى دقة ممكنة (وهي الـ 88% التي حققتيها).</a:t>
            </a:r>
            <a:endParaRPr lang="en-AU" dirty="0"/>
          </a:p>
          <a:p>
            <a:r>
              <a:rPr lang="en-AU" dirty="0"/>
              <a:t>}</a:t>
            </a:r>
            <a:endParaRPr lang="en-US" dirty="0"/>
          </a:p>
          <a:p>
            <a:r>
              <a:rPr lang="en-US" dirty="0"/>
              <a:t>One-vs-All:</a:t>
            </a:r>
            <a:r>
              <a:rPr lang="ar-JO" dirty="0"/>
              <a:t>هو أسلوب يُستخدم لتحويل مشكلة </a:t>
            </a:r>
            <a:r>
              <a:rPr lang="ar-JO" b="1" dirty="0"/>
              <a:t>تصنيف متعدد الفئات</a:t>
            </a:r>
            <a:r>
              <a:rPr lang="ar-JO" dirty="0"/>
              <a:t> إلى عدة مشاكل تصنيف ثنائية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pPr marL="202997" indent="-202997">
              <a:buFont typeface="Arial" panose="020B0604020202020204" pitchFamily="34" charset="0"/>
              <a:buChar char="•"/>
            </a:pPr>
            <a:r>
              <a:rPr lang="en-US" dirty="0"/>
              <a:t>Accuracy alone is not enough.</a:t>
            </a:r>
          </a:p>
          <a:p>
            <a:pPr marL="202997" indent="-202997">
              <a:buFont typeface="Arial" panose="020B0604020202020204" pitchFamily="34" charset="0"/>
              <a:buChar char="•"/>
            </a:pPr>
            <a:r>
              <a:rPr lang="en-US" dirty="0"/>
              <a:t>The confusion matrix shows:</a:t>
            </a:r>
          </a:p>
          <a:p>
            <a:pPr marL="202997" indent="-202997">
              <a:buFont typeface="Arial" panose="020B0604020202020204" pitchFamily="34" charset="0"/>
              <a:buChar char="•"/>
            </a:pPr>
            <a:r>
              <a:rPr lang="en-US" dirty="0"/>
              <a:t>where errors happen </a:t>
            </a:r>
          </a:p>
          <a:p>
            <a:pPr marL="202997" indent="-202997">
              <a:buFont typeface="Arial" panose="020B0604020202020204" pitchFamily="34" charset="0"/>
              <a:buChar char="•"/>
            </a:pPr>
            <a:r>
              <a:rPr lang="en-US" dirty="0"/>
              <a:t>which categories are difficult </a:t>
            </a:r>
          </a:p>
          <a:p>
            <a:pPr marL="202997" indent="-202997">
              <a:buFont typeface="Arial" panose="020B0604020202020204" pitchFamily="34" charset="0"/>
              <a:buChar char="•"/>
            </a:pPr>
            <a:r>
              <a:rPr lang="en-US" dirty="0"/>
              <a:t>how the model behaves</a:t>
            </a:r>
          </a:p>
          <a:p>
            <a:pPr marL="202997" indent="-202997">
              <a:buFont typeface="Arial" panose="020B0604020202020204" pitchFamily="34" charset="0"/>
              <a:buChar char="•"/>
            </a:pPr>
            <a:r>
              <a:rPr lang="en-US" dirty="0"/>
              <a:t>==================</a:t>
            </a:r>
          </a:p>
          <a:p>
            <a:r>
              <a:rPr lang="en-US" dirty="0"/>
              <a:t>Scikit-learn stores TF-IDF using special sparse matrix structures.</a:t>
            </a:r>
          </a:p>
          <a:p>
            <a:r>
              <a:rPr lang="en-US" dirty="0"/>
              <a:t>Instead of saving:</a:t>
            </a:r>
          </a:p>
          <a:p>
            <a:pPr rtl="0"/>
            <a:r>
              <a:rPr lang="en-US" sz="1400" dirty="0"/>
              <a:t> </a:t>
            </a:r>
          </a:p>
          <a:p>
            <a:r>
              <a:rPr lang="en-US" dirty="0"/>
              <a:t>it stores only:</a:t>
            </a:r>
          </a:p>
          <a:p>
            <a:pPr marL="270662" indent="-270662">
              <a:buFont typeface="+mj-lt"/>
              <a:buAutoNum type="arabicPeriod"/>
            </a:pPr>
            <a:r>
              <a:rPr lang="en-US" dirty="0"/>
              <a:t>non-zero values </a:t>
            </a:r>
          </a:p>
          <a:p>
            <a:pPr marL="270662" indent="-270662">
              <a:buFont typeface="+mj-lt"/>
              <a:buAutoNum type="arabicPeriod"/>
            </a:pPr>
            <a:r>
              <a:rPr lang="en-US" dirty="0"/>
              <a:t>their positions </a:t>
            </a:r>
          </a:p>
          <a:p>
            <a:pPr marL="270662" indent="-270662">
              <a:buFont typeface="+mj-lt"/>
              <a:buAutoNum type="arabicPeriod"/>
            </a:pPr>
            <a:r>
              <a:rPr lang="en-US" dirty="0"/>
              <a:t>This saves huge memory.</a:t>
            </a:r>
          </a:p>
          <a:p>
            <a:pPr marL="202997" indent="-202997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108265" tIns="54132" rIns="108265" bIns="541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108265" tIns="54132" rIns="108265" bIns="54132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98670" y="-1572768"/>
            <a:ext cx="4572000" cy="457200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34440" y="3410712"/>
            <a:ext cx="3200400" cy="32004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3840480"/>
            <a:ext cx="320040" cy="3200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01168" cy="20116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40080"/>
            <a:ext cx="1737360" cy="310896"/>
          </a:xfrm>
          <a:prstGeom prst="roundRect">
            <a:avLst>
              <a:gd name="adj" fmla="val 44118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00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NLP COURSE PROJECT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078992"/>
            <a:ext cx="594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  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</a:t>
            </a:r>
            <a:endParaRPr lang="en-US" sz="5000" dirty="0"/>
          </a:p>
        </p:txBody>
      </p:sp>
      <p:sp>
        <p:nvSpPr>
          <p:cNvPr id="10" name="Shape 8"/>
          <p:cNvSpPr/>
          <p:nvPr/>
        </p:nvSpPr>
        <p:spPr>
          <a:xfrm>
            <a:off x="502920" y="3566160"/>
            <a:ext cx="196596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63931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3,608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02920" y="41330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Articles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3566160"/>
            <a:ext cx="196596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51760" y="363931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651760" y="41330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3566160"/>
            <a:ext cx="196596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363931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00600" y="41330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9440" y="3566160"/>
            <a:ext cx="1965960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49440" y="363931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0.88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49440" y="41330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F1-Score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7548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Presented by: Sadeen Abdelalrahman  |  ID: 202311425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" y="-548640"/>
            <a:ext cx="2011680" cy="201168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45337" y="3493008"/>
            <a:ext cx="2286000" cy="22860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4B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8686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286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6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newsdata01.xls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DD6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3,608 articles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DD6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categories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3246120"/>
            <a:ext cx="30175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33101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"Trump Fails To Close Deal…"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POLITICS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749040" y="25603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the Data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749040" y="96012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📁  Source: newsdata01.xls (custom dataset)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49040" y="136245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📰  Total articles: 3,608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749040" y="17647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⚖️  Perfectly balanced — 902 per category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749040" y="21671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🗂️  Two columns: text &amp; category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49040" y="256946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No missing values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74904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Categories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49040" y="3401568"/>
            <a:ext cx="1234440" cy="384048"/>
          </a:xfrm>
          <a:prstGeom prst="roundRect">
            <a:avLst>
              <a:gd name="adj" fmla="val 3571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34015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49040" y="38587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49040" y="41148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articles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02352" y="3401568"/>
            <a:ext cx="1234440" cy="384048"/>
          </a:xfrm>
          <a:prstGeom prst="roundRect">
            <a:avLst>
              <a:gd name="adj" fmla="val 35714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34015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POLITICS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02352" y="38587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02352" y="41148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articles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55664" y="3401568"/>
            <a:ext cx="1234440" cy="384048"/>
          </a:xfrm>
          <a:prstGeom prst="roundRect">
            <a:avLst>
              <a:gd name="adj" fmla="val 35714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55664" y="34015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SPORTS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55664" y="38587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55664" y="41148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articles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808976" y="3401568"/>
            <a:ext cx="1234440" cy="384048"/>
          </a:xfrm>
          <a:prstGeom prst="roundRect">
            <a:avLst>
              <a:gd name="adj" fmla="val 35714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08976" y="34015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808976" y="38587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808976" y="41148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articles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oundRect">
            <a:avLst/>
          </a:prstGeom>
          <a:solidFill>
            <a:srgbClr val="F8F7FF"/>
          </a:solidFill>
          <a:ln w="12700">
            <a:solidFill>
              <a:srgbClr val="F8F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011680" y="16459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 Steps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92608" y="1115568"/>
            <a:ext cx="2011680" cy="356616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115568"/>
            <a:ext cx="2011680" cy="749808"/>
          </a:xfrm>
          <a:prstGeom prst="roundRect">
            <a:avLst>
              <a:gd name="adj" fmla="val 2195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1527048"/>
            <a:ext cx="2011680" cy="3383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" y="1243584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2435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2336" y="192024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Lowercasing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29768" y="2468880"/>
            <a:ext cx="1755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"Teachers Swarm…" → "teachers swarm…"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Converts all text to lowercase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1115568"/>
            <a:ext cx="2011680" cy="356616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1115568"/>
            <a:ext cx="2011680" cy="749808"/>
          </a:xfrm>
          <a:prstGeom prst="roundRect">
            <a:avLst>
              <a:gd name="adj" fmla="val 21951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50592" y="1527048"/>
            <a:ext cx="2011680" cy="33832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36392" y="1243584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36392" y="12435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60320" y="192024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Tokenization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587752" y="2468880"/>
            <a:ext cx="1755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"teachers swarm…" → ["teachers","swarm",…]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Splits sentence into words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08576" y="1115568"/>
            <a:ext cx="2011680" cy="356616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08576" y="1115568"/>
            <a:ext cx="2011680" cy="749808"/>
          </a:xfrm>
          <a:prstGeom prst="roundRect">
            <a:avLst>
              <a:gd name="adj" fmla="val 21951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08576" y="1527048"/>
            <a:ext cx="2011680" cy="3383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94376" y="1243584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94376" y="12435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18304" y="192024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 Word Removal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745736" y="2468880"/>
            <a:ext cx="1755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["the","is","for","are"] removed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Keeps only meaningful words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66560" y="1115568"/>
            <a:ext cx="2011680" cy="356616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66560" y="1115568"/>
            <a:ext cx="2011680" cy="749808"/>
          </a:xfrm>
          <a:prstGeom prst="roundRect">
            <a:avLst>
              <a:gd name="adj" fmla="val 2195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0" y="1527048"/>
            <a:ext cx="2011680" cy="3383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52360" y="1243584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52360" y="12435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6288" y="192024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Stemming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903720" y="2468880"/>
            <a:ext cx="175564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"running"→"run"  "policies"→"polici"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Reduces words to root form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92608" y="4736592"/>
            <a:ext cx="8558784" cy="274320"/>
          </a:xfrm>
          <a:prstGeom prst="roundRect">
            <a:avLst>
              <a:gd name="adj" fmla="val 26667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4745736"/>
            <a:ext cx="8375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BEFORE: "Teachers Swarm Kentucky Capitol, 2024!"   →   AFTER: "teacher swarm kentucky capitol"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0" y="16459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Extraction — TF-IDF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502920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05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TF-IDF?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8988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TF = Term Frequency — how often a word appears in one article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6537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IDF = Inverse Document Frequency — penalizes very common words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395728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4086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TF-IDF = TF × IDF — high score = unique &amp; important word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383280"/>
            <a:ext cx="5029200" cy="1170432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49300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TF-IDF(t,d) = TF(t,d) × log( N / df(t) 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" y="39959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6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 = total documents   |   df(t) = documents containing term 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896112"/>
            <a:ext cx="324612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77840" y="896112"/>
            <a:ext cx="201168" cy="822960"/>
          </a:xfrm>
          <a:prstGeom prst="roundRect">
            <a:avLst>
              <a:gd name="adj" fmla="val 4545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0448" y="9875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max_features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70448" y="12801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5,000 words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77840" y="1901952"/>
            <a:ext cx="324612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77840" y="1901952"/>
            <a:ext cx="201168" cy="822960"/>
          </a:xfrm>
          <a:prstGeom prst="roundRect">
            <a:avLst>
              <a:gd name="adj" fmla="val 45455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0448" y="19933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ngram_range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70448" y="22860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(1,2) — uni + bigrams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577840" y="2907792"/>
            <a:ext cx="324612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77840" y="2907792"/>
            <a:ext cx="201168" cy="822960"/>
          </a:xfrm>
          <a:prstGeom prst="roundRect">
            <a:avLst>
              <a:gd name="adj" fmla="val 4545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0448" y="29992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Matrix shape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70448" y="32918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2,886 × 5,000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577840" y="3913632"/>
            <a:ext cx="3246120" cy="804672"/>
          </a:xfrm>
          <a:prstGeom prst="roundRect">
            <a:avLst>
              <a:gd name="adj" fmla="val 15909"/>
            </a:avLst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87568" y="3977640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Bigrams capture phrases like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'machine learning' &amp; 'health care'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0" y="16459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— Logistic Regression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560320" cy="2560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5087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20040" y="26517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4B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54680" y="896112"/>
            <a:ext cx="274320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10128" y="9875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10128" y="137160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3167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Supervised classification algorithm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10128" y="170078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Sigmoid function → probability 0–1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10128" y="2029968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975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Picks highest-probability category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896112"/>
            <a:ext cx="274320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36208" y="9875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best for us?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36208" y="1371600"/>
            <a:ext cx="91440" cy="914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3167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Handles sparse TF-IDF matrices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36208" y="1700784"/>
            <a:ext cx="91440" cy="914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 even with 5,000 features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36208" y="2029968"/>
            <a:ext cx="91440" cy="914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975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Easy to interpret results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2487168"/>
            <a:ext cx="1828800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487168"/>
            <a:ext cx="1828800" cy="384048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54680" y="2688336"/>
            <a:ext cx="182880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2560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max_iter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154680" y="3017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148072" y="2487168"/>
            <a:ext cx="1828800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148072" y="2487168"/>
            <a:ext cx="1828800" cy="384048"/>
          </a:xfrm>
          <a:prstGeom prst="roundRect">
            <a:avLst>
              <a:gd name="adj" fmla="val 3333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48072" y="2688336"/>
            <a:ext cx="1828800" cy="1828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9512" y="2560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48072" y="3017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lbfgs (default)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141464" y="2487168"/>
            <a:ext cx="1828800" cy="1261872"/>
          </a:xfrm>
          <a:prstGeom prst="roundRect">
            <a:avLst>
              <a:gd name="adj" fmla="val 10145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41464" y="2487168"/>
            <a:ext cx="1828800" cy="384048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41464" y="2688336"/>
            <a:ext cx="1828800" cy="182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32904" y="2560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multi_class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41464" y="3017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one-vs-rest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20040" y="468172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Tested against Random Forest, Naive Bayes &amp; SVM — Logistic Regression won on both accuracy and speed.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82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0" y="16459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Evaluation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2011680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96112"/>
            <a:ext cx="2011680" cy="228600"/>
          </a:xfrm>
          <a:prstGeom prst="roundRect">
            <a:avLst>
              <a:gd name="adj" fmla="val 64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05840"/>
            <a:ext cx="2011680" cy="118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704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32888" y="896112"/>
            <a:ext cx="2011680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32888" y="896112"/>
            <a:ext cx="2011680" cy="228600"/>
          </a:xfrm>
          <a:prstGeom prst="roundRect">
            <a:avLst>
              <a:gd name="adj" fmla="val 64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32888" y="1005840"/>
            <a:ext cx="2011680" cy="1188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11704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0.88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32888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45736" y="896112"/>
            <a:ext cx="2011680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45736" y="896112"/>
            <a:ext cx="2011680" cy="228600"/>
          </a:xfrm>
          <a:prstGeom prst="roundRect">
            <a:avLst>
              <a:gd name="adj" fmla="val 64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1005840"/>
            <a:ext cx="2011680" cy="1188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45736" y="11704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0.88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745736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58584" y="896112"/>
            <a:ext cx="2011680" cy="1078992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58584" y="896112"/>
            <a:ext cx="2011680" cy="228600"/>
          </a:xfrm>
          <a:prstGeom prst="roundRect">
            <a:avLst>
              <a:gd name="adj" fmla="val 64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58584" y="1005840"/>
            <a:ext cx="2011680" cy="118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58584" y="11704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0.88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958584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F1-Score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2148840"/>
            <a:ext cx="4389120" cy="281635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" y="22494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Per-Class Performance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96896"/>
          <a:ext cx="4160520" cy="13335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Category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Precision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Recall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F1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EDUCATION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0.91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0.85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0.88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POLITICS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0.83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0.84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0.83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SPORTS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0.90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0.92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0.91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TECH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0.88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0.90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0.89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E9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4956048" y="2148840"/>
            <a:ext cx="3867912" cy="2816352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102352" y="2249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</a:t>
            </a:r>
            <a:endParaRPr lang="en-US" sz="1300" dirty="0"/>
          </a:p>
        </p:txBody>
      </p:sp>
      <p:graphicFrame>
        <p:nvGraphicFramePr>
          <p:cNvPr id="3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7488" y="2596896"/>
          <a:ext cx="3657600" cy="129540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EDU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POL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SPT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TCH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48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EDU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149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14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9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POL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7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144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4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17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SPT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8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172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C4899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TCH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7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7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170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C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Text 27"/>
          <p:cNvSpPr/>
          <p:nvPr/>
        </p:nvSpPr>
        <p:spPr>
          <a:xfrm>
            <a:off x="4956048" y="4828032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Rows = Actual  |  Columns = Predicted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011680" y="16459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Faced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6052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4160520" cy="347472"/>
          </a:xfrm>
          <a:prstGeom prst="roundRect">
            <a:avLst>
              <a:gd name="adj" fmla="val 4210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3000"/>
            <a:ext cx="416052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1498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14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362456"/>
            <a:ext cx="3904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Choosing the Right Model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3904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Tested 4 models. Logistic Regression gave the best accuracy &amp; F1. Random Forest was slower and less accurate on text.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16052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960120"/>
            <a:ext cx="4160520" cy="347472"/>
          </a:xfrm>
          <a:prstGeom prst="roundRect">
            <a:avLst>
              <a:gd name="adj" fmla="val 42105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143000"/>
            <a:ext cx="4160520" cy="16459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0" y="101498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014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362456"/>
            <a:ext cx="3904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Stemming Issues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737360"/>
            <a:ext cx="3904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Aggressive stemming sometimes produces non-words (e.g., 'polici'). Over-stemming can hurt meaning.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907792"/>
            <a:ext cx="416052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07792"/>
            <a:ext cx="4160520" cy="347472"/>
          </a:xfrm>
          <a:prstGeom prst="roundRect">
            <a:avLst>
              <a:gd name="adj" fmla="val 42105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090672"/>
            <a:ext cx="416052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96265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62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310128"/>
            <a:ext cx="3904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Cleaning Complexity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685032"/>
            <a:ext cx="3904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text had punctuation, numbers, and symbols. Needed careful preprocessing before training.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907792"/>
            <a:ext cx="4160520" cy="173736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228600" dist="38100" dir="8100000" algn="bl" rotWithShape="0">
              <a:srgbClr val="7C3AED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907792"/>
            <a:ext cx="4160520" cy="347472"/>
          </a:xfrm>
          <a:prstGeom prst="roundRect">
            <a:avLst>
              <a:gd name="adj" fmla="val 4210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3090672"/>
            <a:ext cx="416052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2962656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962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3310128"/>
            <a:ext cx="3904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Extraction Tuning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3685032"/>
            <a:ext cx="3904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Bag of Words alone was insufficient. Adding bigrams to TF-IDF captured phrases like 'health care'.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785616"/>
            <a:ext cx="2743200" cy="2743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76488" y="4338828"/>
            <a:ext cx="347472" cy="347472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288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84048" y="987552"/>
            <a:ext cx="809244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987552"/>
            <a:ext cx="228600" cy="713232"/>
          </a:xfrm>
          <a:prstGeom prst="roundRect">
            <a:avLst>
              <a:gd name="adj" fmla="val 4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133856"/>
            <a:ext cx="420624" cy="420624"/>
          </a:xfrm>
          <a:prstGeom prst="ellipse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097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61872" y="1143000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Successfully classified news into 4 categories with 88% accuracy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4048" y="1874520"/>
            <a:ext cx="809244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1874520"/>
            <a:ext cx="228600" cy="713232"/>
          </a:xfrm>
          <a:prstGeom prst="roundRect">
            <a:avLst>
              <a:gd name="adj" fmla="val 40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2020824"/>
            <a:ext cx="420624" cy="420624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61872" y="2029968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5 preprocessing steps applied: lowercase → tokenize → stop words → stem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2761488"/>
            <a:ext cx="809244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761488"/>
            <a:ext cx="228600" cy="713232"/>
          </a:xfrm>
          <a:prstGeom prst="roundRect">
            <a:avLst>
              <a:gd name="adj" fmla="val 4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2907792"/>
            <a:ext cx="420624" cy="420624"/>
          </a:xfrm>
          <a:prstGeom prst="ellipse">
            <a:avLst/>
          </a:prstGeom>
          <a:solidFill>
            <a:srgbClr val="EDE9F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2871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61872" y="2916936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TF-IDF + Logistic Regression gave the best Accuracy, Precision, Recall &amp; F1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84048" y="3648456"/>
            <a:ext cx="8092440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  <a:effectLst>
            <a:outerShdw blurRad="1270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3648456"/>
            <a:ext cx="228600" cy="713232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3794760"/>
            <a:ext cx="420624" cy="420624"/>
          </a:xfrm>
          <a:prstGeom prst="ellipse">
            <a:avLst/>
          </a:prstGeom>
          <a:solidFill>
            <a:srgbClr val="EDE9F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3758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⚖️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61872" y="3803904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Balanced dataset (902 per class) ensured fair and unbiased evaluation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87768" y="47548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NLP Course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732</Words>
  <Application>Microsoft Office PowerPoint</Application>
  <PresentationFormat>On-screen Show (16:9)</PresentationFormat>
  <Paragraphs>197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sadeen abdelalrahman</dc:creator>
  <cp:lastModifiedBy>سدين يوسف عبداللطيف عبدالرحمن</cp:lastModifiedBy>
  <cp:revision>3</cp:revision>
  <dcterms:created xsi:type="dcterms:W3CDTF">2026-05-23T12:28:06Z</dcterms:created>
  <dcterms:modified xsi:type="dcterms:W3CDTF">2026-05-23T13:20:53Z</dcterms:modified>
</cp:coreProperties>
</file>